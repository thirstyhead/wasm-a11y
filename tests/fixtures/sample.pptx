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1111111-1111-1111-1111-111111111111}">
          <p14:sldIdLst>
            <p14:sldId id="256"/>
            <p14:sldId id="257"/>
          </p14:sldIdLst>
        </p14:section>
        <p14:section name="Default Section" id="{22222222-2222-2222-2222-222222222222}">
          <p14:sldIdLst>
            <p14:sldId id="258"/>
            <p14:sldId id="259"/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artisan-bread-guid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solidFill>
            <a:srgbClr val="FFFFFF"/>
          </a:solidFill>
        </p:spPr>
        <p:txBody>
          <a:bodyPr/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No kneading required, 4 simple ingredients, baked in a Dutch Oven.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0F172A"/>
                </a:solidFill>
                <a:latin typeface="Calibri"/>
              </a:rPr>
              <a:t>No Knead Bread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731520" y="1463040"/>
            <a:ext cx="4114800" cy="4754880"/>
          </a:xfr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256032" rIns="256032" tIns="256032" bIns="256032" wrap="square"/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100" b="1">
                <a:solidFill>
                  <a:srgbClr val="0369A1"/>
                </a:solidFill>
                <a:latin typeface="Calibri"/>
              </a:rPr>
              <a:t>OVERVIEW &amp; PHILOSOPHY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350" b="0">
                <a:solidFill>
                  <a:srgbClr val="334155"/>
                </a:solidFill>
                <a:latin typeface="Calibri"/>
              </a:rPr>
              <a:t>The simplicity of this no-knead bread is what makes it a household favorite. Your entire home will fill with the aroma of fresh artisan bakery bread as it bakes.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350" b="0">
                <a:solidFill>
                  <a:srgbClr val="334155"/>
                </a:solidFill>
                <a:latin typeface="Calibri"/>
              </a:rPr>
              <a:t>Requiring zero special equipment and just four basic pantry staples, this method delivers a golden, blistered crust and a moist, airy crumb.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94A3B8"/>
                </a:solidFill>
                <a:latin typeface="Calibri"/>
              </a:rPr>
              <a:t>A slow, 12 to 18-hour room-temperature fermentation develops rich flavor and a chewy artisan texture without any manual kneading.</a:t>
            </a:r>
          </a:p>
        </p:txBody>
      </p:sp>
      <p:pic>
        <p:nvPicPr>
          <p:cNvPr id="4" name="Artisan Bread Loa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3383280" cy="22432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Ingredients</a:t>
            </a:r>
          </a:p>
        </p:txBody>
      </p:sp>
      <p:graphicFrame>
        <p:nvGraphicFramePr>
          <p:cNvPr id="3" name="Ingredients Table"/>
          <p:cNvGraphicFramePr>
            <a:graphicFrameLocks noGrp="1"/>
          </p:cNvGraphicFramePr>
          <p:nvPr/>
        </p:nvGraphicFramePr>
        <p:xfrm>
          <a:off x="914400" y="1645920"/>
          <a:ext cx="7315200" cy="292608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85216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</a:rPr>
                        <a:t>Ingredient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All-Purpose Flour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3 cups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Unbleached white flour preferred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Salt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1 3/4 tsp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Fine sea salt or kosher salt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Active Dry Yeast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1/2 tsp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Instant or dry active yeast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334155"/>
                          </a:solidFill>
                          <a:latin typeface="Calibri"/>
                        </a:rPr>
                        <a:t>Water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t>1 1/2 cups (Room temperature, approx. 70°F)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Step-by-Step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463040"/>
            <a:ext cx="7680960" cy="4754880"/>
          </a:xfr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256032" rIns="256032" tIns="256032" bIns="256032" wrap="square"/>
          <a:lstStyle/>
          <a:p>
            <a:pPr marL="342900" indent="-3429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sz="1350" b="1">
                <a:solidFill>
                  <a:srgbClr val="0F172A"/>
                </a:solidFill>
                <a:latin typeface="Calibri"/>
              </a:rPr>
              <a:t>Whisk Dry Ingredients — </a:t>
            </a:r>
            <a:r>
              <a:rPr sz="1300" b="0">
                <a:solidFill>
                  <a:srgbClr val="334155"/>
                </a:solidFill>
                <a:latin typeface="Calibri"/>
              </a:rPr>
              <a:t>In a large bowl, whisk together 3 cups all-purpose flour, 1¾ tsp fine salt, and ½ tsp active dry yeast.</a:t>
            </a:r>
          </a:p>
          <a:p>
            <a:pPr marL="342900" indent="-3429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sz="1350" b="1">
                <a:solidFill>
                  <a:srgbClr val="0F172A"/>
                </a:solidFill>
                <a:latin typeface="Calibri"/>
              </a:rPr>
              <a:t>Form Shaggy Dough — </a:t>
            </a:r>
            <a:r>
              <a:rPr sz="1300" b="0">
                <a:solidFill>
                  <a:srgbClr val="334155"/>
                </a:solidFill>
                <a:latin typeface="Calibri"/>
              </a:rPr>
              <a:t>Pour in 1½ cups room-temperature water. Mix with a wooden spoon or spatula until thoroughly incorporated.</a:t>
            </a:r>
          </a:p>
          <a:p>
            <a:pPr marL="342900" indent="-3429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sz="1350" b="1">
                <a:solidFill>
                  <a:srgbClr val="0F172A"/>
                </a:solidFill>
                <a:latin typeface="Calibri"/>
              </a:rPr>
              <a:t>Overnight Counter Ferment — </a:t>
            </a:r>
            <a:r>
              <a:rPr sz="1300" b="0">
                <a:solidFill>
                  <a:srgbClr val="334155"/>
                </a:solidFill>
                <a:latin typeface="Calibri"/>
              </a:rPr>
              <a:t>Cover bowl tightly with plastic wrap. Let rest at room temperature for 12 to 18 hours until bubbly and doubled.</a:t>
            </a:r>
          </a:p>
          <a:p>
            <a:pPr marL="342900" indent="-3429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sz="1350" b="1">
                <a:solidFill>
                  <a:srgbClr val="0F172A"/>
                </a:solidFill>
                <a:latin typeface="Calibri"/>
              </a:rPr>
              <a:t>Preheat Oven &amp; Dutch Oven — </a:t>
            </a:r>
            <a:r>
              <a:rPr sz="1300" b="0">
                <a:solidFill>
                  <a:srgbClr val="334155"/>
                </a:solidFill>
                <a:latin typeface="Calibri"/>
              </a:rPr>
              <a:t>Place covered cast iron Dutch oven inside oven. Preheat both together to 450°F (230°C) for at least 30 minutes.</a:t>
            </a:r>
          </a:p>
          <a:p>
            <a:pPr marL="342900" indent="-3429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sz="1350" b="1">
                <a:solidFill>
                  <a:srgbClr val="0F172A"/>
                </a:solidFill>
                <a:latin typeface="Calibri"/>
              </a:rPr>
              <a:t>Shape &amp; Transfer Dough — </a:t>
            </a:r>
            <a:r>
              <a:rPr sz="1300" b="0">
                <a:solidFill>
                  <a:srgbClr val="334155"/>
                </a:solidFill>
                <a:latin typeface="Calibri"/>
              </a:rPr>
              <a:t>With generously floured hands, turn dough onto a floured counter, shape into a ball, and drop into hot pot.</a:t>
            </a:r>
          </a:p>
          <a:p>
            <a:pPr marL="342900" indent="-3429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sz="1350" b="1">
                <a:solidFill>
                  <a:srgbClr val="0F172A"/>
                </a:solidFill>
                <a:latin typeface="Calibri"/>
              </a:rPr>
              <a:t>Covered &amp; Uncovered Bake — </a:t>
            </a:r>
            <a:r>
              <a:rPr sz="1300" b="0">
                <a:solidFill>
                  <a:srgbClr val="334155"/>
                </a:solidFill>
                <a:latin typeface="Calibri"/>
              </a:rPr>
              <a:t>Bake covered 30 minutes to trap steam. Remove lid and bake 15 to 20 minutes more until crust is deeply golden.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Step-by-Step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463040"/>
            <a:ext cx="7680960" cy="4754880"/>
          </a:xfr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256032" rIns="256032" tIns="256032" bIns="256032" wrap="square"/>
          <a:lstStyle/>
          <a:p>
            <a:pPr marL="342900" indent="-342900">
              <a:spcBef>
                <a:spcPts val="0"/>
              </a:spcBef>
              <a:spcAft>
                <a:spcPts val="1400"/>
              </a:spcAft>
              <a:buChar char="•"/>
            </a:pPr>
            <a:r>
              <a:rPr sz="1350" b="1">
                <a:solidFill>
                  <a:srgbClr val="0F172A"/>
                </a:solidFill>
                <a:latin typeface="Calibri"/>
              </a:rPr>
              <a:t>Cool Completely Before Slicing: </a:t>
            </a:r>
            <a:r>
              <a:rPr sz="1300" b="0">
                <a:solidFill>
                  <a:srgbClr val="334155"/>
                </a:solidFill>
                <a:latin typeface="Calibri"/>
              </a:rPr>
              <a:t>Allow loaf to rest on a wire cooling rack for at least 1 full hour. Slicing warm bread compresses steam and creates a gummy, dense crumb.</a:t>
            </a:r>
          </a:p>
          <a:p>
            <a:pPr marL="342900" indent="-342900">
              <a:spcBef>
                <a:spcPts val="0"/>
              </a:spcBef>
              <a:spcAft>
                <a:spcPts val="1400"/>
              </a:spcAft>
              <a:buChar char="•"/>
            </a:pPr>
            <a:r>
              <a:rPr sz="1350" b="1">
                <a:solidFill>
                  <a:srgbClr val="0F172A"/>
                </a:solidFill>
                <a:latin typeface="Calibri"/>
              </a:rPr>
              <a:t>Preserve Crust Crispness: </a:t>
            </a:r>
            <a:r>
              <a:rPr sz="1300" b="0">
                <a:solidFill>
                  <a:srgbClr val="334155"/>
                </a:solidFill>
                <a:latin typeface="Calibri"/>
              </a:rPr>
              <a:t>Store cut-side down in a breathable paper bag or wooden bread box at room temperature for up to 3 days. Never store in plastic bags, which soften the crust.</a:t>
            </a:r>
          </a:p>
          <a:p>
            <a:pPr marL="342900" indent="-342900">
              <a:spcBef>
                <a:spcPts val="0"/>
              </a:spcBef>
              <a:spcAft>
                <a:spcPts val="1400"/>
              </a:spcAft>
              <a:buChar char="•"/>
            </a:pPr>
            <a:r>
              <a:rPr sz="1350" b="1">
                <a:solidFill>
                  <a:srgbClr val="0F172A"/>
                </a:solidFill>
                <a:latin typeface="Calibri"/>
              </a:rPr>
              <a:t>Artisanal Serving Pairings: </a:t>
            </a:r>
            <a:r>
              <a:rPr sz="1300" b="0">
                <a:solidFill>
                  <a:srgbClr val="334155"/>
                </a:solidFill>
                <a:latin typeface="Calibri"/>
              </a:rPr>
              <a:t>Slice thick and serve warm with salted European cultured butter, extra virgin olive oil with flaky sea salt, artisan cheeses, or alongside hearty soups.</a:t>
            </a:r>
          </a:p>
          <a:p>
            <a:pPr marL="342900" indent="-342900">
              <a:spcBef>
                <a:spcPts val="0"/>
              </a:spcBef>
              <a:spcAft>
                <a:spcPts val="1400"/>
              </a:spcAft>
              <a:buChar char="•"/>
            </a:pPr>
            <a:r>
              <a:rPr sz="1350" b="1">
                <a:solidFill>
                  <a:srgbClr val="0F172A"/>
                </a:solidFill>
                <a:latin typeface="Calibri"/>
              </a:rPr>
              <a:t>Baker's Companion Guide: </a:t>
            </a:r>
            <a:r>
              <a:rPr sz="1300" b="0">
                <a:solidFill>
                  <a:srgbClr val="334155"/>
                </a:solidFill>
                <a:latin typeface="Calibri"/>
              </a:rPr>
              <a:t>Looking for crumb analysis, hydration scaling, and Dutch oven troubleshooting? </a:t>
            </a:r>
            <a:r>
              <a:rPr sz="1300" b="1">
                <a:solidFill>
                  <a:srgbClr val="0369A1"/>
                </a:solidFill>
                <a:latin typeface="Calibri"/>
                <a:hlinkClick r:id="rId2"/>
              </a:rPr>
              <a:t>click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